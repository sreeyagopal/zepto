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97280" y="1005840"/>
            <a:ext cx="3291840" cy="384048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⚡ 10-MINUTE QUICK-COMMERCE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600">
                <a:solidFill>
                  <a:srgbClr val="FFFFFF"/>
                </a:solidFill>
                <a:latin typeface="Arial"/>
              </a:defRPr>
            </a:pPr>
            <a:r>
              <a:t>Zepto Hyperlocal E-Commerce</a:t>
            </a:r>
          </a:p>
          <a:p>
            <a:pPr>
              <a:defRPr b="1" sz="2200">
                <a:solidFill>
                  <a:srgbClr val="FFB400"/>
                </a:solidFill>
                <a:latin typeface="Arial"/>
              </a:defRPr>
            </a:pPr>
            <a:r>
              <a:t>Full-Stack Quick Delivery System &amp; Dark Store Management Platform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Engineered with Spring Boot 3, Hibernate JPA, MySQL 8, JSP/JSTL &amp; Official Razorpay Fintech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60520"/>
            <a:ext cx="2423160" cy="1417320"/>
          </a:xfrm>
          <a:prstGeom prst="roundRect">
            <a:avLst/>
          </a:prstGeom>
          <a:solidFill>
            <a:srgbClr val="190A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⚡ 10 Mins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Hyperlocal Delivery Guarantee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4160520"/>
            <a:ext cx="2423160" cy="1417320"/>
          </a:xfrm>
          <a:prstGeom prst="roundRect">
            <a:avLst/>
          </a:prstGeom>
          <a:solidFill>
            <a:srgbClr val="190A2D"/>
          </a:solidFill>
          <a:ln w="19050">
            <a:solidFill>
              <a:srgbClr val="FF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B400"/>
                </a:solidFill>
              </a:defRPr>
            </a:pPr>
            <a:r>
              <a:t>🛍️ 12 Depts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53+ Lifestyle Catalog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160520"/>
            <a:ext cx="2423160" cy="1417320"/>
          </a:xfrm>
          <a:prstGeom prst="roundRect">
            <a:avLst/>
          </a:prstGeom>
          <a:solidFill>
            <a:srgbClr val="190A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8BDF8"/>
                </a:solidFill>
              </a:defRPr>
            </a:pPr>
            <a:r>
              <a:t>💳 Razorpay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Instant Payments &amp; Escrow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4160520"/>
            <a:ext cx="2423160" cy="1417320"/>
          </a:xfrm>
          <a:prstGeom prst="roundRect">
            <a:avLst/>
          </a:prstGeom>
          <a:solidFill>
            <a:srgbClr val="190A2D"/>
          </a:solidFill>
          <a:ln w="19050">
            <a:solidFill>
              <a:srgbClr val="FF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3269"/>
                </a:solidFill>
              </a:defRPr>
            </a:pPr>
            <a:r>
              <a:t>🛵 Live GPS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Animated Dark Store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👨‍💻 Developed by: Sreeya  |  Live Architecture Walkthrough  |  Port 8080 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Introduction &amp; The Quick-Commerce Revolution</a:t>
            </a:r>
          </a:p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Transforming Traditional Slow E-Commerce into a 10-Minute Hyperlocal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36499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F87171"/>
                </a:solidFill>
              </a:defRPr>
            </a:pPr>
            <a:r>
              <a:t>📦 The Old Paradigm</a:t>
            </a:r>
            <a:br/>
            <a:r>
              <a:t>(Traditional E-Commerce)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✕ 2 to 5 days delivery wait times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✕ Centralized regional warehouses (distant)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✕ Expensive intermediate freight &amp; excessive plastic packaging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✕ Ineffective for emergency necessities, daily cooking, or instant needs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✕ Static checkout with rigid fulfillment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783080"/>
            <a:ext cx="3364992" cy="4480560"/>
          </a:xfrm>
          <a:prstGeom prst="roundRect">
            <a:avLst/>
          </a:prstGeom>
          <a:solidFill>
            <a:srgbClr val="0C1C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0B981"/>
                </a:solidFill>
              </a:defRPr>
            </a:pPr>
            <a:r>
              <a:t>⚡ The Zepto Solution</a:t>
            </a:r>
            <a:br/>
            <a:r>
              <a:t>(Hyperlocal Dark Store)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✓ 10-Minute doorstep delivery guarantee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✓ Neighborhood micro Dark Stores (1.5–2 km)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✓ 2-Minute picker batch packing sequence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✓ Eco-friendly electric scooter courier dispatch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✓ Covers groceries, fashion, electronics &amp; 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783080"/>
            <a:ext cx="336499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A855F7"/>
                </a:solidFill>
              </a:defRPr>
            </a:pPr>
            <a:r>
              <a:t>🎯 Project Scope</a:t>
            </a:r>
            <a:br/>
            <a:r>
              <a:t>(Core Objectives)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★ Enterprise layered Java Spring Boot stack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★ 53+ seeded products across 12 departments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★ Interactive cart with rider tipping &amp; coupons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★ Production-grade Razorpay payment integration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★ Dual-role security (Customer vs Admin portal)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STOREFRONT &amp;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Multi-Department Mega Catalog</a:t>
            </a:r>
          </a:p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53+ Active Database Products Across 12 Lifestyle Categories with Real-Time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6217920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B400"/>
                </a:solidFill>
              </a:defRPr>
            </a:pPr>
            <a:r>
              <a:t>🛍️ 12 Active Dark Store Departments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👗 Clothing &amp; Fashion: T-Shirts, Jeans, Hoodies, Kurtis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🎧 Electrical &amp; Electronics: Smartwatches, Earbuds, Cables, Chargers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📚 Books &amp; Stationery: Notebooks, Pens, Best-sellers, Sticky notes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🧸 Toys &amp; Games: Board games, Soft plushies, Puzzles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🥛 Dairy &amp; Breakfast: Fresh Milk, Curd, Butter, Paneer, Cheese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🍎 Fruits &amp; Vegetables: Organic Bananas, Apples, Tomatoes, Spinach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🍪 Munchies &amp; Snacks: Potato chips, Salted almonds, Biscuits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🧼 Cleaning &amp; Personal Care: Soaps, Face wash, Shampoos, Detergents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783080"/>
            <a:ext cx="4206240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FF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3269"/>
                </a:solidFill>
              </a:defRPr>
            </a:pPr>
            <a:r>
              <a:t>⚡ Catalog Engine Features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▸ 4-Slide Hero Carousel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Autoplay banner rotating deals: 10-Minute Dark Store pledge, Fresh Farm Produce, and Electronics launch.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▸ Instagram Story Circles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Horizontally scrollable category pills with gradient glowing rings for instant 1-touch filtering.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▸ Live Dynamic Search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Real-time client-side keyword filtering matching titles and descriptions.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▸ Zero-Reload Cart Steppers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AJAX endpoints (/cart/api/update) updating quantity and navbar counters dynamically.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Smart Cart &amp; 10-Min Live Delivery Tracker</a:t>
            </a:r>
          </a:p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Interactive Dynamic Bill Breakdown, Express Partner Tipping &amp; Real-Time GPS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120640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8BDF8"/>
                </a:solidFill>
              </a:defRPr>
            </a:pPr>
            <a:r>
              <a:t>🛒 Smart Cart &amp; Bill Engine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Free Delivery Milestone: Dynamic progress bar granting ₹0 delivery fee on orders &gt;= ₹99 (₹25 standard fee).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Delivery Partner Tip: Interactive pill buttons to add ₹10, ₹20, ₹30, or ₹50 tip to support express riders.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Automated Coupon Engine: Live verification for ZEPTO50 (₹50 off), FREESHIP (Free delivery), and SUPER20 (20% off).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Transparent Fee Structure: Item subtotal, delivery fee, and dark store handling fee (₹4.0) with zero hidden charges.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Saved User Address: Destination banner: Flat 302, Green Glen Layout, Bengaluru.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5257800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FF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3269"/>
                </a:solidFill>
              </a:defRPr>
            </a:pPr>
            <a:r>
              <a:t>🛵 Zepto 10-Minute Live Tracker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⚡ Celebration Confetti: Canvas confetti burst animation celebrating successful order placement.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⚡ Countdown Timer: Live real-time ticking delivery countdown starting at 09:42 minutes.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⚡ Simulated GPS Route: Animated electric scooter cruising along the dark store-to-doorstep route.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⚡ 4-Stage Order Timeline: Visual progress bar tracking: 1. Order Placed ➔ 2. Dark Store Packing ➔ 3. Rider on Way ➔ 4. Delivered.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⚡ Rider Profile Card: Displays assigned partner ('Ramesh Kumar', 4.9★, Hero Electric) with Call &amp; Message actions.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⚡ Printable Receipt: Instant one-click browser receipt printer for personal or tax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FINTECH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Payment Gateway Architecture (Razorpay + COD)</a:t>
            </a:r>
          </a:p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Enterprise Razorpay Java SDK Integration with Dual Fallback to Cash on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669280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8BDF8"/>
                </a:solidFill>
              </a:defRPr>
            </a:pPr>
            <a:r>
              <a:t>💳 End-to-End Razorpay Flow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1. Order Initialization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Frontend submits cart subtotal, tip, and coupon discount to POST /cart/razorpayOrder.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2. Server-Side Signature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Spring Boot calls RazorpayClient with API Key &amp; Secret to create an encrypted order_id.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3. Client SDK Invocation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Returns key, amount in paise, currency (INR), and order_id to trigger official checkout popup.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4. Payment Processing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User securely transacts via Credit/Debit Cards, UPI (GPay/PhonePe), or NetBanking.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5. Callback &amp; Verification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Success callback hits /cart/payment-success with razorpay_payment_id and signature.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6. Order Entity Persistence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 Spring Boot saves Order entity with status 'PAID (Razorpay: pay_...)' and items to MySQL.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783080"/>
            <a:ext cx="4709160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🔒 Security &amp; Fault Tolerance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🛡️ Dual Payment Modes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Provides both Online Razorpay and instant Cash on Delivery (COD) for universal accessibility.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🛡️ Modal Dismissal Handler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Clean ondismiss callback re-enables buttons if the user closes checkout without paying.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🛡️ Paise Precision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Server calculates Math.round(amount * 100) preventing any floating point truncation errors.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🛡️ Zero-Cart Guard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Math.max(1.0, total) protection ensuring orders satisfy Razorpay minimum transaction rules.</a:t>
            </a:r>
          </a:p>
          <a:p>
            <a:pPr>
              <a:defRPr b="1" sz="1300">
                <a:solidFill>
                  <a:srgbClr val="FFB400"/>
                </a:solidFill>
              </a:defRPr>
            </a:pPr>
            <a:r>
              <a:t>🛡️ Tamper-Proof Audit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Full transaction logging in MySQL with linked User, OrderItem, and Payment Reference.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PORTALS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Dual-Role Authentication &amp; Access Control</a:t>
            </a:r>
          </a:p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Customer Onboarding with Gender &amp; Address Engine &amp;bull; Admin Dark Store Command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FF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3269"/>
                </a:solidFill>
              </a:defRPr>
            </a:pPr>
            <a:r>
              <a:t>👤 Customer Portal &amp; Onboarding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1-Click Demo Login: Instant '⚡ Quick Login as Customer' button on login screen for effortless evaluation.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Gender Identity Cards: Interactive selector cards (👨 Male, 👩 Female, 🧑 Other) with visual highlight states.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Structured Address Engine: Granular inputs for Flat/Street, Area, City chips (Bengaluru, Mumbai, Delhi), State, and Pincode.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Live Destination Preview: Real-time delivery pin card reflecting customer address as they type.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Async Email Dispatch: Non-blocking background welcome email sent via SMTP without delaying UI registration.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Duplicate User Guard: Pre-validates username &amp; email in database to prevent collision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8BDF8"/>
                </a:solidFill>
              </a:defRPr>
            </a:pPr>
            <a:r>
              <a:t>🛡️ Admin Dark Store Console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★ Live Dark Store KPI Cards: Real-time dashboard metrics displaying total catalog items (53), registered users, and active orders.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★ Role-Based Authorization: Guards /admin/** routes; unauthorized users are automatically redirected to login.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★ Product CRUD Studio: Publish, edit, and categorize products with image upload, MRP discount, and badge tagging.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★ Customer Directory: Table view of all registered accounts displaying gender badges, contact, and formatted delivery address.</a:t>
            </a:r>
          </a:p>
          <a:p>
            <a:pPr>
              <a:defRPr b="1" sz="1200">
                <a:solidFill>
                  <a:srgbClr val="FFB400"/>
                </a:solidFill>
              </a:defRPr>
            </a:pPr>
            <a:r>
              <a:t>★ Clean Navbar Navigation: Integrated profile dropdown sign-out with zero redundant logout buttons.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ENGINEERING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Technical Stack &amp; Enterprise Architecture</a:t>
            </a:r>
          </a:p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Modern Java Enterprise Stack Built for Speed, Scalability, and Robustness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A855F7"/>
                </a:solidFill>
              </a:defRPr>
            </a:pPr>
            <a:r>
              <a:t>Backend Core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Java 17 LTS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Modern language features &amp; record performance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Spring Boot 3.3.6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Enterprise microframework &amp; autoconfig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Spring MVC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RESTful endpoints &amp; JSP controllers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Spring Data JPA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Repository abstractions &amp; query methods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Hibernate 6.5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High-performance ORM &amp; relational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783080"/>
            <a:ext cx="254203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Database &amp; Storage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MySQL 8.0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ACID compliant database (ecomboot)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HikariCP Pool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Ultra-fast JDBC connection pooling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Cascade Relations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Order ↔ OrderItem ↔ Product mapping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Image Uploads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Dedicated multipart file upload handler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Schema Evolution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Hibernate ddl-auto schema maintenance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783080"/>
            <a:ext cx="254203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Frontend &amp; UX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JSP 2.3 &amp; JSTL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Server-side dynamic template rendering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Bootstrap 4.5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Responsive mobile-first grid system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Zepto CSS (1400+ L)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Custom typography, gradients, neon badges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Pure Vanilla JS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AJAX cart steppers, confetti, GPS timer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Font Awesome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Intuitive iconography &amp; visual cues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783080"/>
            <a:ext cx="254203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FF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3269"/>
                </a:solidFill>
              </a:defRPr>
            </a:pPr>
            <a:r>
              <a:t>Third-Party Services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Razorpay Java SDK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Official payment gateway API integration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Jakarta Mail SMTP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Async welcome notifications (Gmail SMTP)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Tomcat 10.1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High-concurrency embedded servlet engine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REST &amp; JSON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Asynchronous fetch endpoints for cart updates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• Widescreen UI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Optimized for mobile, tablet, and desktop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11480"/>
            <a:ext cx="2926080" cy="329184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FFFFFF"/>
                </a:solidFill>
                <a:latin typeface="Arial"/>
              </a:defRPr>
            </a:pPr>
            <a:r>
              <a:t>ROADMAP &amp;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Future Enhancements &amp; Technical Roadmap</a:t>
            </a:r>
          </a:p>
          <a:p>
            <a:pPr>
              <a:defRPr sz="1250">
                <a:solidFill>
                  <a:srgbClr val="CBD5E1"/>
                </a:solidFill>
                <a:latin typeface="Arial"/>
              </a:defRPr>
            </a:pPr>
            <a:r>
              <a:t>Scaling the Dark Store Ecosystem with AI, Real-Time IoT Logistics &amp; Mobile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36499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A855F7"/>
                </a:solidFill>
              </a:defRPr>
            </a:pPr>
            <a:r>
              <a:t>🤖 AI &amp; Machine Learning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Predictive Demand Forecasting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Machine learning models analyzing local order velocity to auto-reorder high-demand groceries.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Dynamic Surge Delivery Engine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Intelligent delivery fee and ETA calculation adjusting for monsoon weather &amp; peak rush.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Smart Automated Substitutions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Algorithmic recommendations for alternative brands when an item is temporarily sold out.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• Personalized AI Recommendations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Tailored homepage banners based on customer purchase history and dietary habits.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783080"/>
            <a:ext cx="336499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0B981"/>
                </a:solidFill>
              </a:defRPr>
            </a:pPr>
            <a:r>
              <a:t>📡 Real-Time IoT &amp; Telemetry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✓ Live WebSocket Rider GPS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Bidirectional WebSocket connection streaming exact rider coordinates onto OpenStreetMap.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✓ Dark Store RFID Binning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Handheld scanner IoT integration guiding pickers along the shortest aisle route in &lt; 60s.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✓ Temperature-Controlled Lockers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Smart cold-chain sensors ensuring ice creams &amp; fresh dairy remain chilled in transit.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✓ Automated Geofence Dispatch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Dark store buzzer alerting packers when a rider enters a 300m perimeter.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1584" y="1783080"/>
            <a:ext cx="3364992" cy="448056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FF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FF3269"/>
                </a:solidFill>
              </a:defRPr>
            </a:pPr>
            <a:r>
              <a:t>📱 Omnichannel &amp; Expansion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★ Zepto Pass Subscription Tier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VIP loyalty tier offering unlimited free deliveries and exclusive member discounts.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★ Native Mobile App (React Native)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iOS &amp; Android app with biometric authentication and 1-tap lockscreen widgets.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★ Vernacular Voice Ordering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Voice search supporting English, Hindi, Telugu, Tamil, and Kannada spoken grocery lists.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★ Microservices Architecture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Decoupling Auth, Catalog, Cart, and Payment into independent Spring Cloud microservices.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261104" y="731520"/>
            <a:ext cx="3657600" cy="411480"/>
          </a:xfrm>
          <a:prstGeom prst="roundRect">
            <a:avLst/>
          </a:prstGeom>
          <a:solidFill>
            <a:srgbClr val="FF3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🏁 PROJECT SUMMARY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600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b="1" sz="2000">
                <a:solidFill>
                  <a:srgbClr val="FFB400"/>
                </a:solidFill>
                <a:latin typeface="Arial"/>
              </a:defRPr>
            </a:pPr>
            <a:r>
              <a:t>Zepto Hyperlocal E-Commerce Platform • Delivering in 10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971800"/>
            <a:ext cx="4572000" cy="315468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FF3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3269"/>
                </a:solidFill>
              </a:defRPr>
            </a:pPr>
            <a:r>
              <a:t>🎯 What We Accomplished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✓ 10-Minute Dark Store delivery model implemented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✓ 12 Lifestyle Departments with 53+ seeded products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✓ Interactive Cart with tipping pills &amp; promo coupons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✓ Razorpay SDK payment flow + COD dual fallback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✓ Animated live GPS scooter route &amp; celebration confetti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✓ Customer portal with structured address &amp; Admin KPI console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971800"/>
            <a:ext cx="4572000" cy="3154680"/>
          </a:xfrm>
          <a:prstGeom prst="roundRect">
            <a:avLst/>
          </a:prstGeom>
          <a:solidFill>
            <a:srgbClr val="120A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💬 Questions &amp; Discussion</a:t>
            </a:r>
          </a:p>
          <a:p>
            <a:pPr>
              <a:defRPr b="1" sz="1100">
                <a:solidFill>
                  <a:srgbClr val="FFB400"/>
                </a:solidFill>
              </a:defRPr>
            </a:pPr>
            <a:r>
              <a:t>▸ Live Storefront Demo:</a:t>
            </a:r>
          </a:p>
          <a:p>
            <a:pPr>
              <a:defRPr sz="1050">
                <a:solidFill>
                  <a:srgbClr val="DCDCF5"/>
                </a:solidFill>
              </a:defRPr>
            </a:pPr>
            <a:r>
              <a:t>   http://localhost:8080/products</a:t>
            </a:r>
          </a:p>
          <a:p>
            <a:pPr>
              <a:defRPr b="1" sz="1100">
                <a:solidFill>
                  <a:srgbClr val="FFB400"/>
                </a:solidFill>
              </a:defRPr>
            </a:pPr>
            <a:r>
              <a:t>▸ Admin KPI Console:</a:t>
            </a:r>
          </a:p>
          <a:p>
            <a:pPr>
              <a:defRPr sz="1050">
                <a:solidFill>
                  <a:srgbClr val="DCDCF5"/>
                </a:solidFill>
              </a:defRPr>
            </a:pPr>
            <a:r>
              <a:t>   http://localhost:8080/admin/dashboard</a:t>
            </a:r>
          </a:p>
          <a:p>
            <a:pPr>
              <a:defRPr b="1" sz="1100">
                <a:solidFill>
                  <a:srgbClr val="FFB400"/>
                </a:solidFill>
              </a:defRPr>
            </a:pPr>
            <a:r>
              <a:t>▸ Razorpay Sandbox Test:</a:t>
            </a:r>
          </a:p>
          <a:p>
            <a:pPr>
              <a:defRPr sz="1050">
                <a:solidFill>
                  <a:srgbClr val="DCDCF5"/>
                </a:solidFill>
              </a:defRPr>
            </a:pPr>
            <a:r>
              <a:t>   http://localhost:8080/cart</a:t>
            </a:r>
          </a:p>
          <a:p>
            <a:pPr>
              <a:defRPr b="1" sz="1100">
                <a:solidFill>
                  <a:srgbClr val="FFB400"/>
                </a:solidFill>
              </a:defRPr>
            </a:pPr>
            <a:r>
              <a:t>▸ Stack:</a:t>
            </a:r>
          </a:p>
          <a:p>
            <a:pPr>
              <a:defRPr sz="1050">
                <a:solidFill>
                  <a:srgbClr val="DCDCF5"/>
                </a:solidFill>
              </a:defRPr>
            </a:pPr>
            <a:r>
              <a:t>   Java 17, Spring Boot 3, Hibernate, MySQL, Razorpay</a:t>
            </a:r>
          </a:p>
          <a:p>
            <a:pPr>
              <a:defRPr b="1" sz="1100">
                <a:solidFill>
                  <a:srgbClr val="FFB400"/>
                </a:solidFill>
              </a:defRPr>
            </a:pPr>
            <a:r>
              <a:t>▸ Developer:</a:t>
            </a:r>
          </a:p>
          <a:p>
            <a:pPr>
              <a:defRPr sz="1050">
                <a:solidFill>
                  <a:srgbClr val="DCDCF5"/>
                </a:solidFill>
              </a:defRPr>
            </a:pPr>
            <a:r>
              <a:t>   Sreeya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